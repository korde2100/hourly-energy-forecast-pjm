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2588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AFF"/>
                </a:solidFill>
              </a:defRPr>
            </a:pPr>
            <a:r>
              <a:t>Hourly Energy Consumption Forecast</a:t>
            </a:r>
          </a:p>
          <a:p>
            <a:pPr>
              <a:defRPr sz="2000">
                <a:solidFill>
                  <a:srgbClr val="2DAAFF"/>
                </a:solidFill>
              </a:defRPr>
            </a:pPr>
            <a:r>
              <a:t>Machine Learning–Based Electricity Demand Forecasting</a:t>
            </a:r>
          </a:p>
          <a:p>
            <a:pPr>
              <a:defRPr sz="1500">
                <a:solidFill>
                  <a:srgbClr val="ADC2D8"/>
                </a:solidFill>
              </a:defRPr>
            </a:pPr>
            <a:r>
              <a:t>PJM West (PJMW) hourly electricity demand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Team &amp; Mentor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371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dirty="0"/>
              <a:t>Project Name: Hourly Energy Consumption Forecast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dirty="0"/>
              <a:t>Mentor / Guide: </a:t>
            </a:r>
            <a:r>
              <a:rPr lang="en-GB" dirty="0" err="1"/>
              <a:t>K.Dilavar</a:t>
            </a:r>
            <a:r>
              <a:rPr lang="en-GB" dirty="0"/>
              <a:t> </a:t>
            </a:r>
            <a:r>
              <a:rPr lang="en-GB" dirty="0" err="1"/>
              <a:t>Bassha</a:t>
            </a:r>
            <a:endParaRPr dirty="0"/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dirty="0"/>
              <a:t>Team Members: </a:t>
            </a:r>
            <a:r>
              <a:rPr lang="en-GB" dirty="0" err="1"/>
              <a:t>Palem</a:t>
            </a:r>
            <a:r>
              <a:rPr lang="en-GB" dirty="0"/>
              <a:t> Soma Sekhar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lang="en-GB" dirty="0"/>
              <a:t>                              Seetha </a:t>
            </a:r>
            <a:r>
              <a:rPr lang="en-GB" dirty="0" err="1"/>
              <a:t>Reddiar</a:t>
            </a:r>
            <a:endParaRPr lang="en-GB" dirty="0"/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lang="en-GB" dirty="0"/>
              <a:t>                              Mallela </a:t>
            </a:r>
            <a:r>
              <a:rPr lang="en-GB" dirty="0" err="1"/>
              <a:t>Somanath</a:t>
            </a:r>
            <a:endParaRPr lang="en-GB" dirty="0"/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lang="en-GB" dirty="0"/>
              <a:t>                              Vishal Parmar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lang="en-GB" dirty="0"/>
              <a:t>                              </a:t>
            </a:r>
            <a:r>
              <a:rPr lang="en-GB" dirty="0" err="1"/>
              <a:t>Ailaveni</a:t>
            </a:r>
            <a:r>
              <a:rPr lang="en-GB" dirty="0"/>
              <a:t> Praveen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lang="en-GB" dirty="0"/>
              <a:t>                              Richa </a:t>
            </a:r>
            <a:r>
              <a:rPr lang="en-GB" dirty="0" err="1"/>
              <a:t>Amardas</a:t>
            </a:r>
            <a:r>
              <a:rPr lang="en-GB" dirty="0"/>
              <a:t> Deshmukh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rPr lang="en-GB" dirty="0"/>
              <a:t>                              </a:t>
            </a:r>
            <a:r>
              <a:rPr lang="en-GB" dirty="0" err="1"/>
              <a:t>Dhanashree</a:t>
            </a:r>
            <a:r>
              <a:rPr lang="en-GB" dirty="0"/>
              <a:t> </a:t>
            </a:r>
            <a:r>
              <a:rPr lang="en-GB" dirty="0" err="1"/>
              <a:t>Korde</a:t>
            </a:r>
            <a:r>
              <a:rPr lang="en-GB" dirty="0"/>
              <a:t>    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Forecast hourly electricity consumption for the PJM West region.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Understand demand behavior through time-based exploratory data analysis.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Engineer calendar, lag and rolling-statistic features.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Train and evaluate forecasting models using a chronological test set.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Deploy the forecasting workflow through a Streamlit application.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Dataset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Dataset: PJMW hourly electricity consumption.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Time span: 01-Apr-2002 to 03-Aug-2018.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Rows after timestamp de-duplication: 143,202.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Target variable: PJMW_MW — electricity demand in megawatts.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Observed range: 487 MW to 9594 MW; mean ≈ 5602 MW.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Chronological splitting is used to avoid future-data leakage.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Data Loading → Data Cleaning → EDA → Feature Engineering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→ Model Training → Evaluation → Future Forecasting → Streamlit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EDA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Understand the structure, quality and behavior of hourly electricity demand.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Identify hourly, weekly, monthly and seasonal patterns.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Check holidays, outliers, long-term trends and variable relationships.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Use EDA findings to guide feature engineering and model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Data Import &amp; Initial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143,202 timestamped observations after duplicate removal.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Datetime is converted to a time-series field and records are sorted chronologically.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PJMW_MW is the forecasting target.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The notebook uses pandas, NumPy, Matplotlib and Seaborn for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Data Quality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The project notes DST-related missing/duplicate timestamps.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Calendar-related gaps need careful treatment rather than blind random imputation.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Lag and rolling calculations naturally create initial missing rows.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Final modeling data removes rows with unavailable engineered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Time-Based Feature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Calendar: Hour, Day, DayOfWeek, Month and Year.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Behavioral indicators: IsWeekend and IsHoliday.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Historical lags: 1h, 2h, 3h, 24h, 48h and 168h.</a:t>
            </a:r>
          </a:p>
          <a:p>
            <a:pPr>
              <a:spcAft>
                <a:spcPts val="1100"/>
              </a:spcAft>
              <a:defRPr sz="1800">
                <a:solidFill>
                  <a:srgbClr val="F5FAFF"/>
                </a:solidFill>
              </a:defRPr>
            </a:pPr>
            <a:r>
              <a:t>Rolling statistics: 24-hour mean, 168-hour mean and 24-hour standard deviation.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Overall Energy Consumption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distribution shows the normal operating range of hourly demand.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Maximum observed demand is approximately 9594 MW.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Distribution analysis helps identify skewness and extreme observations.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Average Consumption by Hour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Demand varies substantially across the 24-hour cycle.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project EDA identifies lower early-morning demand and higher demand later in the day.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Hour is therefore an important forecasting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Day-of-Week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Average demand differs across weekdays and weekends.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DayOfWeek and IsWeekend capture weekly behavior.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Weekly patterns motivate the use of a 168-hour lag.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Monthly / Seasonal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Average consumption changes across the calendar year.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project EDA notes higher winter demand and generally lower spring/autumn levels.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Month and Year are included as model inputs.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Seasonal Hourly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sea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Hourly demand profiles vary by season.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same hour can have different expected demand depending on season.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Calendar variables help the model capture these interactions.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Weekday vs Weekend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day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Weekday and weekend profiles are not identical.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project explicitly models IsWeekend and DayOfWeek.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This avoids treating all calendar days as behaviorally equivalent.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Holiday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holi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notebook identifies U.S. federal holidays across the dataset period.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Holiday demand is compared with non-holiday demand.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IsHoliday is included as a binary model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Long-Term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Annual average consumption changes over the historical period.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project notes that the long-term pattern is not a simple linear trend.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Year is retained as a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Daily Consumption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Daily aggregation reveals broader fluctuations beyond hourly seasonality.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This view helps separate short-term and longer-term movement.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Rolling historical statistics are motivated by this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Outlier &amp;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boxplot is used to inspect extreme demand observations.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The project reports genuine high-demand periods rather than assuming every extreme is erroneous.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Correlation analysis is used to inspect calendar relationships.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Time-Series Structure &amp; Key EDA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DC2D8"/>
                </a:solidFill>
              </a:defRPr>
            </a:pPr>
            <a:r>
              <a:t>Exploratory Data Analysis</a:t>
            </a:r>
          </a:p>
        </p:txBody>
      </p:sp>
      <p:pic>
        <p:nvPicPr>
          <p:cNvPr id="4" name="Picture 3" descr="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704088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32588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Strong hourly seasonality and clear calendar effects are present.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Weekday/weekend and holiday behavior differ.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Seasonal hourly profiles are different.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Lag and rolling features are justified by demand persistence.</a:t>
            </a:r>
          </a:p>
          <a:p>
            <a:pPr>
              <a:spcAft>
                <a:spcPts val="1100"/>
              </a:spcAft>
              <a:defRPr sz="1400">
                <a:solidFill>
                  <a:srgbClr val="F5FAFF"/>
                </a:solidFill>
              </a:defRPr>
            </a:pPr>
            <a:r>
              <a:t>EDA directly informed the final XGBoost feature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Model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F5FAFF"/>
                </a:solidFill>
              </a:defRPr>
            </a:pPr>
            <a:r>
              <a:t>Chronological split: the final one year is reserved for testing; random splitting is avoided.</a:t>
            </a:r>
          </a:p>
          <a:p>
            <a:pPr>
              <a:spcAft>
                <a:spcPts val="1100"/>
              </a:spcAft>
              <a:defRPr sz="1700">
                <a:solidFill>
                  <a:srgbClr val="F5FAFF"/>
                </a:solidFill>
              </a:defRPr>
            </a:pPr>
            <a:r>
              <a:t>16 model features: calendar indicators, lag variables and rolling statistics.</a:t>
            </a:r>
          </a:p>
          <a:p>
            <a:pPr>
              <a:spcAft>
                <a:spcPts val="1100"/>
              </a:spcAft>
              <a:defRPr sz="1700">
                <a:solidFill>
                  <a:srgbClr val="F5FAFF"/>
                </a:solidFill>
              </a:defRPr>
            </a:pPr>
            <a:r>
              <a:t>Models explored: Random Forest, XGBoost, ARIMA, SARIMAX, RNN and LSTM.</a:t>
            </a:r>
          </a:p>
          <a:p>
            <a:pPr>
              <a:spcAft>
                <a:spcPts val="1100"/>
              </a:spcAft>
              <a:defRPr sz="1700">
                <a:solidFill>
                  <a:srgbClr val="F5FAFF"/>
                </a:solidFill>
              </a:defRPr>
            </a:pPr>
            <a:r>
              <a:t>XGBoost settings in the project: 500 estimators, learning rate 0.05, max depth 7, subsample 0.8 and column subsampling 0.8.</a:t>
            </a:r>
          </a:p>
          <a:p>
            <a:pPr>
              <a:spcAft>
                <a:spcPts val="1100"/>
              </a:spcAft>
              <a:defRPr sz="1700">
                <a:solidFill>
                  <a:srgbClr val="F5FAFF"/>
                </a:solidFill>
              </a:defRPr>
            </a:pPr>
            <a:r>
              <a:t>Metrics used: MAE, RMSE, MAPE and R².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Final Model —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Final deployed model: XGBoost Regressor.</a:t>
            </a:r>
          </a:p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The supplied project contains xgb_model.pkl and feature_columns.pkl.</a:t>
            </a:r>
          </a:p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Inputs combine calendar context, historical lags and rolling demand statistics.</a:t>
            </a:r>
          </a:p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Streamlit loads the saved model and feature list for forecasting.</a:t>
            </a:r>
          </a:p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The project supports recursive multi-step future forecasting.</a:t>
            </a:r>
          </a:p>
        </p:txBody>
      </p:sp>
      <p:pic>
        <p:nvPicPr>
          <p:cNvPr id="4" name="Picture 3" descr="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34440"/>
            <a:ext cx="5897880" cy="2743200"/>
          </a:xfrm>
          <a:prstGeom prst="rect">
            <a:avLst/>
          </a:prstGeom>
        </p:spPr>
      </p:pic>
      <p:pic>
        <p:nvPicPr>
          <p:cNvPr id="5" name="Picture 4" descr="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0"/>
            <a:ext cx="10972800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Model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2468880" cy="1051560"/>
          </a:xfrm>
          <a:prstGeom prst="roundRect">
            <a:avLst/>
          </a:prstGeom>
          <a:solidFill>
            <a:srgbClr val="101F33"/>
          </a:solidFill>
          <a:ln>
            <a:solidFill>
              <a:srgbClr val="2D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DC2D8"/>
                </a:solidFill>
              </a:defRPr>
            </a:pPr>
            <a:r>
              <a:t>MAE</a:t>
            </a:r>
          </a:p>
          <a:p>
            <a:pPr>
              <a:defRPr sz="2200" b="1">
                <a:solidFill>
                  <a:srgbClr val="F5FAFF"/>
                </a:solidFill>
              </a:defRPr>
            </a:pPr>
            <a:r>
              <a:t>52.95 MW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234440"/>
            <a:ext cx="2468880" cy="1051560"/>
          </a:xfrm>
          <a:prstGeom prst="roundRect">
            <a:avLst/>
          </a:prstGeom>
          <a:solidFill>
            <a:srgbClr val="101F33"/>
          </a:solidFill>
          <a:ln>
            <a:solidFill>
              <a:srgbClr val="FFA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DC2D8"/>
                </a:solidFill>
              </a:defRPr>
            </a:pPr>
            <a:r>
              <a:t>RMSE</a:t>
            </a:r>
          </a:p>
          <a:p>
            <a:pPr>
              <a:defRPr sz="2200" b="1">
                <a:solidFill>
                  <a:srgbClr val="F5FAFF"/>
                </a:solidFill>
              </a:defRPr>
            </a:pPr>
            <a:r>
              <a:t>70.87 MW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234440"/>
            <a:ext cx="2468880" cy="1051560"/>
          </a:xfrm>
          <a:prstGeom prst="roundRect">
            <a:avLst/>
          </a:prstGeom>
          <a:solidFill>
            <a:srgbClr val="101F33"/>
          </a:solidFill>
          <a:ln>
            <a:solidFill>
              <a:srgbClr val="3F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DC2D8"/>
                </a:solidFill>
              </a:defRPr>
            </a:pPr>
            <a:r>
              <a:t>R²</a:t>
            </a:r>
          </a:p>
          <a:p>
            <a:pPr>
              <a:defRPr sz="2200" b="1">
                <a:solidFill>
                  <a:srgbClr val="F5FAFF"/>
                </a:solidFill>
              </a:defRPr>
            </a:pPr>
            <a:r>
              <a:t>0.9949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234440"/>
            <a:ext cx="2468880" cy="1051560"/>
          </a:xfrm>
          <a:prstGeom prst="roundRect">
            <a:avLst/>
          </a:prstGeom>
          <a:solidFill>
            <a:srgbClr val="101F33"/>
          </a:solidFill>
          <a:ln>
            <a:solidFill>
              <a:srgbClr val="2D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DC2D8"/>
                </a:solidFill>
              </a:defRPr>
            </a:pPr>
            <a:r>
              <a:t>MAPE</a:t>
            </a:r>
          </a:p>
          <a:p>
            <a:pPr>
              <a:defRPr sz="2200" b="1">
                <a:solidFill>
                  <a:srgbClr val="F5FAFF"/>
                </a:solidFill>
              </a:defRPr>
            </a:pPr>
            <a:r>
              <a:t>0.92%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Test period: 03-Aug-2017 to 03-Aug-2018 — 8,760 hourly observations.</a:t>
            </a:r>
          </a:p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Metrics were recalculated from the supplied saved XGBoost model and supplied PJMW dataset.</a:t>
            </a:r>
          </a:p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MAE, RMSE and MAPE quantify error magnitude; R² summarizes explained variance.</a:t>
            </a:r>
          </a:p>
          <a:p>
            <a:pPr>
              <a:spcAft>
                <a:spcPts val="1100"/>
              </a:spcAft>
              <a:defRPr sz="1600">
                <a:solidFill>
                  <a:srgbClr val="F5FAFF"/>
                </a:solidFill>
              </a:defRPr>
            </a:pPr>
            <a:r>
              <a:t>These results apply to this held-out historical period and should not be assumed to generalize unchanged to other regions or future regimes.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FAFF"/>
                </a:solidFill>
              </a:defRPr>
            </a:pPr>
            <a:r>
              <a:t>Streamlit App &amp;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DC2D8"/>
                </a:solidFill>
              </a:defRPr>
            </a:pPr>
            <a:r>
              <a:t>Recreated from the supplied Streamlit code; not an original screenshot.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2281F-1396-BD84-709C-6BFBD1B18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998" y="705459"/>
            <a:ext cx="10892215" cy="505526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AFF"/>
                </a:solidFill>
              </a:defRPr>
            </a:pPr>
            <a:r>
              <a:t>THANK YOU</a:t>
            </a:r>
          </a:p>
          <a:p>
            <a:pPr algn="ctr">
              <a:defRPr sz="2400">
                <a:solidFill>
                  <a:srgbClr val="2DAAFF"/>
                </a:solidFill>
              </a:defRPr>
            </a:pPr>
            <a:r>
              <a:t>Questions &amp; Discussion</a:t>
            </a:r>
          </a:p>
          <a:p>
            <a:pPr algn="ctr">
              <a:defRPr sz="1600">
                <a:solidFill>
                  <a:srgbClr val="ADC2D8"/>
                </a:solidFill>
              </a:defRPr>
            </a:pPr>
            <a:r>
              <a:t>Hourly Energy Consumption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C2D8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1062</Words>
  <Application>Microsoft Office PowerPoint</Application>
  <PresentationFormat>Widescreen</PresentationFormat>
  <Paragraphs>165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Amardas</cp:lastModifiedBy>
  <cp:revision>5</cp:revision>
  <dcterms:created xsi:type="dcterms:W3CDTF">2013-01-27T09:14:16Z</dcterms:created>
  <dcterms:modified xsi:type="dcterms:W3CDTF">2026-09-30T08:06:53Z</dcterms:modified>
  <cp:category/>
</cp:coreProperties>
</file>